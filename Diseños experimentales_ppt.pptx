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1" r:id="rId3"/>
    <p:sldId id="272" r:id="rId4"/>
    <p:sldId id="270" r:id="rId5"/>
    <p:sldId id="271" r:id="rId6"/>
    <p:sldId id="269" r:id="rId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111" d="100"/>
          <a:sy n="111" d="100"/>
        </p:scale>
        <p:origin x="6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1DE759-D90E-493F-8A12-2EFC7CD432B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610009A3-26BC-4429-A515-0A6185B145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628A6A55-3583-4A35-99F9-90CB529618C9}"/>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5" name="Marcador de pie de página 4">
            <a:extLst>
              <a:ext uri="{FF2B5EF4-FFF2-40B4-BE49-F238E27FC236}">
                <a16:creationId xmlns:a16="http://schemas.microsoft.com/office/drawing/2014/main" id="{7B03440A-EEC4-4D19-9B72-AA0347ADEB2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83DDB9D-ED94-4900-94FC-A7380B4D86B8}"/>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1761035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729BF4-3241-44AF-8753-845A74080DE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7EED0C8-FAF2-4557-8195-D325494BD73C}"/>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E6936D2-B9A2-4372-9CDD-A287D3A94E91}"/>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5" name="Marcador de pie de página 4">
            <a:extLst>
              <a:ext uri="{FF2B5EF4-FFF2-40B4-BE49-F238E27FC236}">
                <a16:creationId xmlns:a16="http://schemas.microsoft.com/office/drawing/2014/main" id="{809DA830-6D60-426A-945A-D9E00A13A22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8537F6A-B3D4-49D4-A4D3-02D9311A04A8}"/>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72405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E39FCD-A224-4295-8E60-62C3E6676C0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19E5078-ED25-4F68-AAE3-A7D67098A8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4EC229F3-F3C6-4FB4-BE33-345110E58126}"/>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5" name="Marcador de pie de página 4">
            <a:extLst>
              <a:ext uri="{FF2B5EF4-FFF2-40B4-BE49-F238E27FC236}">
                <a16:creationId xmlns:a16="http://schemas.microsoft.com/office/drawing/2014/main" id="{B72D543A-0285-4061-92BE-A754C49AAC6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46F1B32-0212-4820-8551-2DA21144B83B}"/>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4046264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037B09-6D63-47F2-96AA-458ECE4EA4A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07750CB2-87B3-4C13-8480-AF1E78894C94}"/>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43AD17AF-6A73-4E84-B67F-FEBA10E7113D}"/>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262089B4-DE96-4CDC-A793-A7587B3F889B}"/>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6" name="Marcador de pie de página 5">
            <a:extLst>
              <a:ext uri="{FF2B5EF4-FFF2-40B4-BE49-F238E27FC236}">
                <a16:creationId xmlns:a16="http://schemas.microsoft.com/office/drawing/2014/main" id="{08A73204-C70C-4992-976B-96373B16615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B763F9C-2869-4808-AAD7-321B12AA82CD}"/>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143282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D582EA-E3BC-493F-8193-DB13050AE19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D0B8EEB-DFA9-4F3E-8A13-BCC02A81C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CAA4F219-A4C6-4347-B1F3-D99C67938B2F}"/>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89DD4272-408E-44C0-8F6E-A9CBA0EE8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B46A9A00-A954-4773-9E63-122A6E105EE8}"/>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22A2D47B-BC84-458F-A219-8D1B28099911}"/>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8" name="Marcador de pie de página 7">
            <a:extLst>
              <a:ext uri="{FF2B5EF4-FFF2-40B4-BE49-F238E27FC236}">
                <a16:creationId xmlns:a16="http://schemas.microsoft.com/office/drawing/2014/main" id="{517BD6DB-DA4D-49C6-81D7-164F2AE82886}"/>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0448547-7CD7-406E-ABA5-DF3F2FB3C884}"/>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2327887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AE9A0F-6E3D-4E5C-9BD5-0D0B7591095F}"/>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32429B43-634C-42D3-A7EA-93423705818E}"/>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4" name="Marcador de pie de página 3">
            <a:extLst>
              <a:ext uri="{FF2B5EF4-FFF2-40B4-BE49-F238E27FC236}">
                <a16:creationId xmlns:a16="http://schemas.microsoft.com/office/drawing/2014/main" id="{83659800-EB57-45F2-A410-D569144CA609}"/>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9A45BEC-3D45-46A9-A6C1-62EA03A29043}"/>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1557606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D206F0-2DAF-47F4-B704-48839C2BB28A}"/>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3" name="Marcador de pie de página 2">
            <a:extLst>
              <a:ext uri="{FF2B5EF4-FFF2-40B4-BE49-F238E27FC236}">
                <a16:creationId xmlns:a16="http://schemas.microsoft.com/office/drawing/2014/main" id="{89A5C264-4993-43DB-A644-5F728AEEC92E}"/>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59EEA0C1-DD13-465A-B76E-BD46875CB195}"/>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3479413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9BA5B-2DE7-483C-8928-EADFB2E828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5E4CA772-CEE8-4235-8709-80A5107B88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B4DCBE58-820E-4972-AA5D-4C7134567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3A0223E8-196D-41F4-907C-48CB35E4B053}"/>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6" name="Marcador de pie de página 5">
            <a:extLst>
              <a:ext uri="{FF2B5EF4-FFF2-40B4-BE49-F238E27FC236}">
                <a16:creationId xmlns:a16="http://schemas.microsoft.com/office/drawing/2014/main" id="{8BE9E3E0-BF3A-46C7-A123-C64FEDDEF354}"/>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AC0EFCF-0465-4FE9-8152-1682810A6247}"/>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3289774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39A201-242B-4D7C-8AAD-C979D011A6A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EA1ED81F-3CA6-4585-864E-68B1E6F15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FEC7B4FF-ECDA-4E21-9290-5F7648729C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4F5BFF6C-7C0E-45A0-97CF-22F21FD24BC7}"/>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6" name="Marcador de pie de página 5">
            <a:extLst>
              <a:ext uri="{FF2B5EF4-FFF2-40B4-BE49-F238E27FC236}">
                <a16:creationId xmlns:a16="http://schemas.microsoft.com/office/drawing/2014/main" id="{F87D66C6-4AAD-4396-A3D7-B728116ABC38}"/>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BA1FEE2-79FA-4FED-8B42-86E2CA42252D}"/>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1893194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56B91-BAA1-481D-BBF3-44B1DA8362D1}"/>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A4184E34-8676-4EA3-A7D7-8CEA6CD0213E}"/>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171CB7E-332A-4BC9-B36E-D86227AC5486}"/>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5" name="Marcador de pie de página 4">
            <a:extLst>
              <a:ext uri="{FF2B5EF4-FFF2-40B4-BE49-F238E27FC236}">
                <a16:creationId xmlns:a16="http://schemas.microsoft.com/office/drawing/2014/main" id="{C13ED605-B42C-4446-AD49-E8D230E3FA3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F450563B-8009-4CB6-AFFA-82AF81909CDB}"/>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3068532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4E385F4-D142-422F-8F7D-C1A978561B8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E436EDF-D3EC-45DF-AF18-103B4E9D43E0}"/>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8D86FA0-5B9A-48AE-A41E-119872EB34A8}"/>
              </a:ext>
            </a:extLst>
          </p:cNvPr>
          <p:cNvSpPr>
            <a:spLocks noGrp="1"/>
          </p:cNvSpPr>
          <p:nvPr>
            <p:ph type="dt" sz="half" idx="10"/>
          </p:nvPr>
        </p:nvSpPr>
        <p:spPr/>
        <p:txBody>
          <a:bodyPr/>
          <a:lstStyle/>
          <a:p>
            <a:fld id="{894FF579-F57B-4443-A498-661BF702501A}" type="datetimeFigureOut">
              <a:rPr lang="es-PE" smtClean="0"/>
              <a:t>24/05/26</a:t>
            </a:fld>
            <a:endParaRPr lang="es-PE"/>
          </a:p>
        </p:txBody>
      </p:sp>
      <p:sp>
        <p:nvSpPr>
          <p:cNvPr id="5" name="Marcador de pie de página 4">
            <a:extLst>
              <a:ext uri="{FF2B5EF4-FFF2-40B4-BE49-F238E27FC236}">
                <a16:creationId xmlns:a16="http://schemas.microsoft.com/office/drawing/2014/main" id="{13C2E6E5-1B1B-4EA0-841E-B0A507DF2CD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BAD8075F-A084-4B28-83A8-C2AAF06ECD1D}"/>
              </a:ext>
            </a:extLst>
          </p:cNvPr>
          <p:cNvSpPr>
            <a:spLocks noGrp="1"/>
          </p:cNvSpPr>
          <p:nvPr>
            <p:ph type="sldNum" sz="quarter" idx="12"/>
          </p:nvPr>
        </p:nvSpPr>
        <p:spPr/>
        <p:txBody>
          <a:bodyPr/>
          <a:lstStyle/>
          <a:p>
            <a:fld id="{AC0C658B-5612-416E-873D-45A8A5CB04B2}" type="slidenum">
              <a:rPr lang="es-PE" smtClean="0"/>
              <a:t>‹Nº›</a:t>
            </a:fld>
            <a:endParaRPr lang="es-PE"/>
          </a:p>
        </p:txBody>
      </p:sp>
    </p:spTree>
    <p:extLst>
      <p:ext uri="{BB962C8B-B14F-4D97-AF65-F5344CB8AC3E}">
        <p14:creationId xmlns:p14="http://schemas.microsoft.com/office/powerpoint/2010/main" val="2878629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18F19E5-6A49-400C-A027-0B6F44DD9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BB724016-1BD7-448A-97EE-F762B1A1A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057D8AF9-DDB9-47B8-9AF6-56000861CC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4FF579-F57B-4443-A498-661BF702501A}" type="datetimeFigureOut">
              <a:rPr lang="es-PE" smtClean="0"/>
              <a:t>24/05/26</a:t>
            </a:fld>
            <a:endParaRPr lang="es-PE"/>
          </a:p>
        </p:txBody>
      </p:sp>
      <p:sp>
        <p:nvSpPr>
          <p:cNvPr id="5" name="Marcador de pie de página 4">
            <a:extLst>
              <a:ext uri="{FF2B5EF4-FFF2-40B4-BE49-F238E27FC236}">
                <a16:creationId xmlns:a16="http://schemas.microsoft.com/office/drawing/2014/main" id="{447F86F5-5091-4B0F-B5C8-452BA6B30B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A80AE0F8-B227-4685-BA44-4A7B4A15DA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0C658B-5612-416E-873D-45A8A5CB04B2}" type="slidenum">
              <a:rPr lang="es-PE" smtClean="0"/>
              <a:t>‹Nº›</a:t>
            </a:fld>
            <a:endParaRPr lang="es-PE"/>
          </a:p>
        </p:txBody>
      </p:sp>
    </p:spTree>
    <p:extLst>
      <p:ext uri="{BB962C8B-B14F-4D97-AF65-F5344CB8AC3E}">
        <p14:creationId xmlns:p14="http://schemas.microsoft.com/office/powerpoint/2010/main" val="333943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doi.org/10.4067/S0719-38902019005000504"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hyperlink" Target="https://doi.org/10.4067/S0719-38902019005000504" TargetMode="Externa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doi.org/10.4067/S0719-38902019005000504" TargetMode="Externa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doi.org/10.4067/S0719-38902019005000504" TargetMode="External"/><Relationship Id="rId5" Type="http://schemas.openxmlformats.org/officeDocument/2006/relationships/image" Target="../media/image5.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jpe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hyperlink" Target="https://doi.org/10.4067/S0719-3890201900500050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jpeg"/><Relationship Id="rId1" Type="http://schemas.openxmlformats.org/officeDocument/2006/relationships/slideLayout" Target="../slideLayouts/slideLayout5.xml"/><Relationship Id="rId6" Type="http://schemas.openxmlformats.org/officeDocument/2006/relationships/hyperlink" Target="https://doi.org/10.4067/S0719-38902019005000504" TargetMode="External"/><Relationship Id="rId5" Type="http://schemas.openxmlformats.org/officeDocument/2006/relationships/image" Target="../media/image5.jpeg"/><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F107D8C-00FC-75C9-522D-2D3C9CDBD0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11711"/>
            <a:ext cx="12204357" cy="2937476"/>
          </a:xfrm>
          <a:prstGeom prst="rect">
            <a:avLst/>
          </a:prstGeom>
        </p:spPr>
      </p:pic>
      <p:sp>
        <p:nvSpPr>
          <p:cNvPr id="5" name="CuadroTexto 4">
            <a:extLst>
              <a:ext uri="{FF2B5EF4-FFF2-40B4-BE49-F238E27FC236}">
                <a16:creationId xmlns:a16="http://schemas.microsoft.com/office/drawing/2014/main" id="{173C9F69-C77E-0F0D-8845-C8195DCD6EA4}"/>
              </a:ext>
            </a:extLst>
          </p:cNvPr>
          <p:cNvSpPr txBox="1"/>
          <p:nvPr/>
        </p:nvSpPr>
        <p:spPr>
          <a:xfrm>
            <a:off x="790782" y="4987070"/>
            <a:ext cx="4192273" cy="1015663"/>
          </a:xfrm>
          <a:prstGeom prst="rect">
            <a:avLst/>
          </a:prstGeom>
          <a:noFill/>
        </p:spPr>
        <p:txBody>
          <a:bodyPr wrap="square">
            <a:spAutoFit/>
          </a:bodyPr>
          <a:lstStyle/>
          <a:p>
            <a:r>
              <a:rPr lang="es-MX" sz="1600" dirty="0"/>
              <a:t>Presented by</a:t>
            </a:r>
            <a:r>
              <a:rPr lang="es-MX" sz="2000" dirty="0"/>
              <a:t>:</a:t>
            </a:r>
          </a:p>
          <a:p>
            <a:r>
              <a:rPr lang="es-MX" sz="2000" dirty="0"/>
              <a:t>- Barboza Salsaña Lili Maricela</a:t>
            </a:r>
          </a:p>
          <a:p>
            <a:r>
              <a:rPr lang="es-MX" sz="2000" dirty="0"/>
              <a:t> </a:t>
            </a:r>
          </a:p>
        </p:txBody>
      </p:sp>
      <p:pic>
        <p:nvPicPr>
          <p:cNvPr id="6" name="Imagen 5">
            <a:extLst>
              <a:ext uri="{FF2B5EF4-FFF2-40B4-BE49-F238E27FC236}">
                <a16:creationId xmlns:a16="http://schemas.microsoft.com/office/drawing/2014/main" id="{15029641-7C49-EB72-AE63-D5398591C3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8" name="CuadroTexto 7">
            <a:extLst>
              <a:ext uri="{FF2B5EF4-FFF2-40B4-BE49-F238E27FC236}">
                <a16:creationId xmlns:a16="http://schemas.microsoft.com/office/drawing/2014/main" id="{67BDCB3F-B194-3530-0823-61A4697BC3FA}"/>
              </a:ext>
            </a:extLst>
          </p:cNvPr>
          <p:cNvSpPr txBox="1"/>
          <p:nvPr/>
        </p:nvSpPr>
        <p:spPr>
          <a:xfrm>
            <a:off x="11209745" y="5794795"/>
            <a:ext cx="677456" cy="369332"/>
          </a:xfrm>
          <a:prstGeom prst="rect">
            <a:avLst/>
          </a:prstGeom>
          <a:noFill/>
        </p:spPr>
        <p:txBody>
          <a:bodyPr wrap="square">
            <a:spAutoFit/>
          </a:bodyPr>
          <a:lstStyle/>
          <a:p>
            <a:r>
              <a:rPr lang="es-MX" sz="1800" b="1" dirty="0"/>
              <a:t>2025</a:t>
            </a:r>
            <a:endParaRPr lang="es-PE" b="1" dirty="0"/>
          </a:p>
        </p:txBody>
      </p:sp>
      <p:sp>
        <p:nvSpPr>
          <p:cNvPr id="9" name="CuadroTexto 8">
            <a:extLst>
              <a:ext uri="{FF2B5EF4-FFF2-40B4-BE49-F238E27FC236}">
                <a16:creationId xmlns:a16="http://schemas.microsoft.com/office/drawing/2014/main" id="{021FBE35-0228-D047-0A36-C4EFBAA9B44B}"/>
              </a:ext>
            </a:extLst>
          </p:cNvPr>
          <p:cNvSpPr txBox="1"/>
          <p:nvPr/>
        </p:nvSpPr>
        <p:spPr>
          <a:xfrm>
            <a:off x="1907913" y="996048"/>
            <a:ext cx="9084538" cy="1015663"/>
          </a:xfrm>
          <a:prstGeom prst="rect">
            <a:avLst/>
          </a:prstGeom>
          <a:noFill/>
        </p:spPr>
        <p:txBody>
          <a:bodyPr wrap="none" rtlCol="0">
            <a:spAutoFit/>
          </a:bodyPr>
          <a:lstStyle/>
          <a:p>
            <a:pPr algn="ctr"/>
            <a:r>
              <a:rPr lang="es-PE" sz="3200" b="1" dirty="0">
                <a:latin typeface="Georgia" panose="02040502050405020303" pitchFamily="18" charset="0"/>
              </a:rPr>
              <a:t>Facultad de Ingeniería y Ciencias Agrarias</a:t>
            </a:r>
          </a:p>
          <a:p>
            <a:pPr algn="ctr"/>
            <a:r>
              <a:rPr lang="es-PE" sz="2800" b="1" dirty="0">
                <a:latin typeface="Georgia" panose="02040502050405020303" pitchFamily="18" charset="0"/>
              </a:rPr>
              <a:t>Escuela Profesional de Ingeniería Agronoma</a:t>
            </a:r>
          </a:p>
        </p:txBody>
      </p:sp>
      <p:sp>
        <p:nvSpPr>
          <p:cNvPr id="10" name="Título 1">
            <a:extLst>
              <a:ext uri="{FF2B5EF4-FFF2-40B4-BE49-F238E27FC236}">
                <a16:creationId xmlns:a16="http://schemas.microsoft.com/office/drawing/2014/main" id="{3C8ABA33-8ED4-1F1C-7FCA-8B9E56F4A639}"/>
              </a:ext>
            </a:extLst>
          </p:cNvPr>
          <p:cNvSpPr txBox="1">
            <a:spLocks/>
          </p:cNvSpPr>
          <p:nvPr/>
        </p:nvSpPr>
        <p:spPr>
          <a:xfrm>
            <a:off x="0" y="4484656"/>
            <a:ext cx="4501494" cy="5595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b="1" dirty="0">
                <a:solidFill>
                  <a:schemeClr val="bg1"/>
                </a:solidFill>
                <a:latin typeface="Segoe UI" panose="020B0502040204020203" pitchFamily="34" charset="0"/>
                <a:cs typeface="Segoe UI" panose="020B0502040204020203" pitchFamily="34" charset="0"/>
              </a:rPr>
              <a:t>Curso: Diseños expeimentales </a:t>
            </a:r>
          </a:p>
        </p:txBody>
      </p:sp>
      <p:sp>
        <p:nvSpPr>
          <p:cNvPr id="13" name="Título 1">
            <a:extLst>
              <a:ext uri="{FF2B5EF4-FFF2-40B4-BE49-F238E27FC236}">
                <a16:creationId xmlns:a16="http://schemas.microsoft.com/office/drawing/2014/main" id="{9B78E593-EFBA-4656-94DD-0C4C54C81153}"/>
              </a:ext>
            </a:extLst>
          </p:cNvPr>
          <p:cNvSpPr txBox="1">
            <a:spLocks/>
          </p:cNvSpPr>
          <p:nvPr/>
        </p:nvSpPr>
        <p:spPr>
          <a:xfrm>
            <a:off x="7244862" y="4588705"/>
            <a:ext cx="4642339" cy="5595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b="1" dirty="0">
                <a:solidFill>
                  <a:schemeClr val="bg1"/>
                </a:solidFill>
                <a:latin typeface="Segoe UI" panose="020B0502040204020203" pitchFamily="34" charset="0"/>
                <a:cs typeface="Segoe UI" panose="020B0502040204020203" pitchFamily="34" charset="0"/>
              </a:rPr>
              <a:t>Docente: Flavio Lozano Isla</a:t>
            </a:r>
          </a:p>
          <a:p>
            <a:pPr algn="ctr"/>
            <a:endParaRPr lang="es-MX" sz="2000" b="1" dirty="0">
              <a:solidFill>
                <a:schemeClr val="bg1"/>
              </a:solidFill>
              <a:latin typeface="Segoe UI" panose="020B0502040204020203" pitchFamily="34" charset="0"/>
              <a:cs typeface="Segoe UI" panose="020B0502040204020203" pitchFamily="34" charset="0"/>
            </a:endParaRPr>
          </a:p>
        </p:txBody>
      </p:sp>
      <p:pic>
        <p:nvPicPr>
          <p:cNvPr id="3" name="Picture 4" descr="Página Principal | Escuela de Posgrado UNTRM">
            <a:extLst>
              <a:ext uri="{FF2B5EF4-FFF2-40B4-BE49-F238E27FC236}">
                <a16:creationId xmlns:a16="http://schemas.microsoft.com/office/drawing/2014/main" id="{B1CB89AA-9F56-44EB-BC9D-428A719D7E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834" y="178739"/>
            <a:ext cx="2848285" cy="967154"/>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n 16">
            <a:extLst>
              <a:ext uri="{FF2B5EF4-FFF2-40B4-BE49-F238E27FC236}">
                <a16:creationId xmlns:a16="http://schemas.microsoft.com/office/drawing/2014/main" id="{ED2EDCF6-CB3F-08D8-58D8-F9AAFAF959AE}"/>
              </a:ext>
            </a:extLst>
          </p:cNvPr>
          <p:cNvPicPr>
            <a:picLocks noChangeAspect="1"/>
          </p:cNvPicPr>
          <p:nvPr/>
        </p:nvPicPr>
        <p:blipFill rotWithShape="1">
          <a:blip r:embed="rId5">
            <a:extLst>
              <a:ext uri="{28A0092B-C50C-407E-A947-70E740481C1C}">
                <a14:useLocalDpi xmlns:a14="http://schemas.microsoft.com/office/drawing/2010/main" val="0"/>
              </a:ext>
            </a:extLst>
          </a:blip>
          <a:srcRect b="60186"/>
          <a:stretch/>
        </p:blipFill>
        <p:spPr>
          <a:xfrm>
            <a:off x="2494424" y="2848519"/>
            <a:ext cx="7668147" cy="842393"/>
          </a:xfrm>
          <a:prstGeom prst="rect">
            <a:avLst/>
          </a:prstGeom>
        </p:spPr>
      </p:pic>
      <p:sp>
        <p:nvSpPr>
          <p:cNvPr id="18" name="Corazón 17">
            <a:extLst>
              <a:ext uri="{FF2B5EF4-FFF2-40B4-BE49-F238E27FC236}">
                <a16:creationId xmlns:a16="http://schemas.microsoft.com/office/drawing/2014/main" id="{9184C303-57D5-861F-1264-629A63149FEF}"/>
              </a:ext>
            </a:extLst>
          </p:cNvPr>
          <p:cNvSpPr/>
          <p:nvPr/>
        </p:nvSpPr>
        <p:spPr>
          <a:xfrm>
            <a:off x="114834" y="6290391"/>
            <a:ext cx="439837" cy="368841"/>
          </a:xfrm>
          <a:prstGeom prst="hear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accent1">
                    <a:lumMod val="50000"/>
                  </a:schemeClr>
                </a:solidFill>
              </a:rPr>
              <a:t>1</a:t>
            </a:r>
          </a:p>
        </p:txBody>
      </p:sp>
      <p:sp>
        <p:nvSpPr>
          <p:cNvPr id="20" name="CuadroTexto 19">
            <a:extLst>
              <a:ext uri="{FF2B5EF4-FFF2-40B4-BE49-F238E27FC236}">
                <a16:creationId xmlns:a16="http://schemas.microsoft.com/office/drawing/2014/main" id="{AA3A361D-0F6D-4185-7E41-E9828A825ADC}"/>
              </a:ext>
            </a:extLst>
          </p:cNvPr>
          <p:cNvSpPr txBox="1"/>
          <p:nvPr/>
        </p:nvSpPr>
        <p:spPr>
          <a:xfrm>
            <a:off x="4501494" y="6335393"/>
            <a:ext cx="5871208" cy="307777"/>
          </a:xfrm>
          <a:prstGeom prst="rect">
            <a:avLst/>
          </a:prstGeom>
          <a:noFill/>
        </p:spPr>
        <p:txBody>
          <a:bodyPr wrap="square">
            <a:spAutoFit/>
          </a:bodyPr>
          <a:lstStyle/>
          <a:p>
            <a:r>
              <a:rPr lang="es-PE" sz="1400" b="0" i="0" dirty="0">
                <a:solidFill>
                  <a:schemeClr val="bg1"/>
                </a:solidFill>
                <a:effectLst/>
                <a:latin typeface="Times New Roman" panose="02020603050405020304" pitchFamily="18" charset="0"/>
                <a:cs typeface="Times New Roman" panose="02020603050405020304" pitchFamily="18" charset="0"/>
              </a:rPr>
              <a:t>DOI:</a:t>
            </a:r>
            <a:r>
              <a:rPr lang="es-PE" sz="1400" b="0" i="0" u="sng" dirty="0">
                <a:solidFill>
                  <a:schemeClr val="bg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10.4067/S0719-38902019005000504</a:t>
            </a:r>
            <a:endParaRPr lang="es-ES_tradnl"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78637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Imagen 60">
            <a:extLst>
              <a:ext uri="{FF2B5EF4-FFF2-40B4-BE49-F238E27FC236}">
                <a16:creationId xmlns:a16="http://schemas.microsoft.com/office/drawing/2014/main" id="{1924D726-DB20-4802-AB27-7D74471952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29108"/>
            <a:ext cx="12192000" cy="431333"/>
          </a:xfrm>
          <a:prstGeom prst="rect">
            <a:avLst/>
          </a:prstGeom>
        </p:spPr>
      </p:pic>
      <p:pic>
        <p:nvPicPr>
          <p:cNvPr id="1028" name="Picture 4" descr="Página Principal | Escuela de Posgrado UNTRM">
            <a:extLst>
              <a:ext uri="{FF2B5EF4-FFF2-40B4-BE49-F238E27FC236}">
                <a16:creationId xmlns:a16="http://schemas.microsoft.com/office/drawing/2014/main" id="{49628D09-2E75-28D7-4496-8357ED4FA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34" y="178739"/>
            <a:ext cx="2848285" cy="967154"/>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DF9F4DA8-59B4-3183-E895-E6B2D0E68734}"/>
              </a:ext>
            </a:extLst>
          </p:cNvPr>
          <p:cNvSpPr txBox="1"/>
          <p:nvPr/>
        </p:nvSpPr>
        <p:spPr>
          <a:xfrm>
            <a:off x="5146875" y="1361097"/>
            <a:ext cx="3046071" cy="400110"/>
          </a:xfrm>
          <a:prstGeom prst="rect">
            <a:avLst/>
          </a:prstGeom>
          <a:noFill/>
        </p:spPr>
        <p:txBody>
          <a:bodyPr wrap="square">
            <a:spAutoFit/>
          </a:bodyPr>
          <a:lstStyle/>
          <a:p>
            <a:r>
              <a:rPr lang="es-PE" sz="2000" b="1" dirty="0">
                <a:latin typeface="Times New Roman" panose="02020603050405020304" pitchFamily="18" charset="0"/>
                <a:cs typeface="Times New Roman" panose="02020603050405020304" pitchFamily="18" charset="0"/>
              </a:rPr>
              <a:t>INTRODUCCIÓN</a:t>
            </a:r>
            <a:endParaRPr lang="es-ES_tradnl" sz="2000" b="1" dirty="0">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9EE335CC-D499-0417-0F74-0735C781C936}"/>
              </a:ext>
            </a:extLst>
          </p:cNvPr>
          <p:cNvSpPr txBox="1"/>
          <p:nvPr/>
        </p:nvSpPr>
        <p:spPr>
          <a:xfrm>
            <a:off x="634678" y="2237171"/>
            <a:ext cx="5326284" cy="2862322"/>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El gorgojo del maíz (</a:t>
            </a:r>
            <a:r>
              <a:rPr lang="es-PE" i="1" dirty="0">
                <a:latin typeface="Times New Roman" panose="02020603050405020304" pitchFamily="18" charset="0"/>
                <a:cs typeface="Times New Roman" panose="02020603050405020304" pitchFamily="18" charset="0"/>
              </a:rPr>
              <a:t>Sitophilus zeamais </a:t>
            </a:r>
            <a:r>
              <a:rPr lang="es-PE" dirty="0">
                <a:latin typeface="Times New Roman" panose="02020603050405020304" pitchFamily="18" charset="0"/>
                <a:cs typeface="Times New Roman" panose="02020603050405020304" pitchFamily="18" charset="0"/>
              </a:rPr>
              <a:t>Mostchulsky; Coleoptera: Curculionidae) es una de las principales plagas de los cereales almacenados a nivel mundial (Danho et al., 2002). Actualmente los insecticidas sintéticos son el método más utilizado para la protección de semillas contra plagas de productos almacenados (Isman, 2015). Sin embargo, su uso irracional ha provocado problemas como contaminación del ambiente, alta toxicidad residual y la resistencia de los insectos (Sarwar, 2015).</a:t>
            </a:r>
            <a:endParaRPr lang="es-ES_tradnl"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2287B91B-FF32-F39F-0965-3F28C031D34E}"/>
              </a:ext>
            </a:extLst>
          </p:cNvPr>
          <p:cNvSpPr txBox="1"/>
          <p:nvPr/>
        </p:nvSpPr>
        <p:spPr>
          <a:xfrm>
            <a:off x="6435524" y="2558521"/>
            <a:ext cx="5000263" cy="2308324"/>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El es una planta aromática y medicinal que se ha utilizado por siglos como condimento y contra parásitos intestinales (Tavares y Vendramim, 2005). El aceite esencial de se encuentra en mayor concentración en los frutos y semillas (Monteiro et al., 2017), sus principales componentes activos son </a:t>
            </a:r>
            <a:r>
              <a:rPr lang="el-GR" dirty="0">
                <a:latin typeface="Times New Roman" panose="02020603050405020304" pitchFamily="18" charset="0"/>
                <a:cs typeface="Times New Roman" panose="02020603050405020304" pitchFamily="18" charset="0"/>
              </a:rPr>
              <a:t>α-</a:t>
            </a:r>
            <a:r>
              <a:rPr lang="es-PE" dirty="0">
                <a:latin typeface="Times New Roman" panose="02020603050405020304" pitchFamily="18" charset="0"/>
                <a:cs typeface="Times New Roman" panose="02020603050405020304" pitchFamily="18" charset="0"/>
              </a:rPr>
              <a:t>terpineno, 1,8-cineol, p-cimeno, careno y ascaridol (Muhayimana et al., 1998</a:t>
            </a:r>
            <a:endParaRPr lang="es-ES_tradnl" dirty="0">
              <a:latin typeface="Times New Roman" panose="02020603050405020304" pitchFamily="18" charset="0"/>
              <a:cs typeface="Times New Roman" panose="02020603050405020304" pitchFamily="18" charset="0"/>
            </a:endParaRPr>
          </a:p>
        </p:txBody>
      </p:sp>
      <p:pic>
        <p:nvPicPr>
          <p:cNvPr id="1030" name="Picture 6" descr="Buenos días..alguien que me confirme que esto sea epazote o paico por  favor?? Gracias">
            <a:extLst>
              <a:ext uri="{FF2B5EF4-FFF2-40B4-BE49-F238E27FC236}">
                <a16:creationId xmlns:a16="http://schemas.microsoft.com/office/drawing/2014/main" id="{C75EF68F-1E81-F71A-4464-8F15E9820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2460" y="191233"/>
            <a:ext cx="1425374" cy="2367288"/>
          </a:xfrm>
          <a:prstGeom prst="rect">
            <a:avLst/>
          </a:prstGeom>
          <a:noFill/>
          <a:extLst>
            <a:ext uri="{909E8E84-426E-40DD-AFC4-6F175D3DCCD1}">
              <a14:hiddenFill xmlns:a14="http://schemas.microsoft.com/office/drawing/2010/main">
                <a:solidFill>
                  <a:srgbClr val="FFFFFF"/>
                </a:solidFill>
              </a14:hiddenFill>
            </a:ext>
          </a:extLst>
        </p:spPr>
      </p:pic>
      <p:sp>
        <p:nvSpPr>
          <p:cNvPr id="12" name="Corazón 11">
            <a:extLst>
              <a:ext uri="{FF2B5EF4-FFF2-40B4-BE49-F238E27FC236}">
                <a16:creationId xmlns:a16="http://schemas.microsoft.com/office/drawing/2014/main" id="{E4C4F3EC-3209-B65E-5264-4583E1A1F23F}"/>
              </a:ext>
            </a:extLst>
          </p:cNvPr>
          <p:cNvSpPr/>
          <p:nvPr/>
        </p:nvSpPr>
        <p:spPr>
          <a:xfrm>
            <a:off x="10517" y="6429106"/>
            <a:ext cx="439837" cy="368841"/>
          </a:xfrm>
          <a:prstGeom prst="hear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accent1">
                    <a:lumMod val="50000"/>
                  </a:schemeClr>
                </a:solidFill>
              </a:rPr>
              <a:t>2</a:t>
            </a:r>
          </a:p>
        </p:txBody>
      </p:sp>
      <p:sp>
        <p:nvSpPr>
          <p:cNvPr id="13" name="CuadroTexto 12">
            <a:extLst>
              <a:ext uri="{FF2B5EF4-FFF2-40B4-BE49-F238E27FC236}">
                <a16:creationId xmlns:a16="http://schemas.microsoft.com/office/drawing/2014/main" id="{BF546380-9060-D031-0657-B281D2D03307}"/>
              </a:ext>
            </a:extLst>
          </p:cNvPr>
          <p:cNvSpPr txBox="1"/>
          <p:nvPr/>
        </p:nvSpPr>
        <p:spPr>
          <a:xfrm>
            <a:off x="4501494" y="6459639"/>
            <a:ext cx="5871208" cy="307777"/>
          </a:xfrm>
          <a:prstGeom prst="rect">
            <a:avLst/>
          </a:prstGeom>
          <a:noFill/>
        </p:spPr>
        <p:txBody>
          <a:bodyPr wrap="square">
            <a:spAutoFit/>
          </a:bodyPr>
          <a:lstStyle/>
          <a:p>
            <a:r>
              <a:rPr lang="es-PE" sz="1400" b="0" i="0" dirty="0">
                <a:solidFill>
                  <a:schemeClr val="bg1"/>
                </a:solidFill>
                <a:effectLst/>
                <a:latin typeface="Times New Roman" panose="02020603050405020304" pitchFamily="18" charset="0"/>
                <a:cs typeface="Times New Roman" panose="02020603050405020304" pitchFamily="18" charset="0"/>
              </a:rPr>
              <a:t>DOI:</a:t>
            </a:r>
            <a:r>
              <a:rPr lang="es-PE" sz="1400" b="0" i="0" u="sng" dirty="0">
                <a:solidFill>
                  <a:schemeClr val="bg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10.4067/S0719-38902019005000504</a:t>
            </a:r>
            <a:endParaRPr lang="es-ES_tradnl"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4443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Página Principal | Escuela de Posgrado UNTRM">
            <a:extLst>
              <a:ext uri="{FF2B5EF4-FFF2-40B4-BE49-F238E27FC236}">
                <a16:creationId xmlns:a16="http://schemas.microsoft.com/office/drawing/2014/main" id="{C8B92401-D2B0-9366-9F6F-894A740D9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834" y="178739"/>
            <a:ext cx="2848285" cy="96715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C312C4A3-66CC-763D-2A41-9C06D5C3CE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429107"/>
            <a:ext cx="12192000" cy="428400"/>
          </a:xfrm>
          <a:prstGeom prst="rect">
            <a:avLst/>
          </a:prstGeom>
        </p:spPr>
      </p:pic>
      <p:sp>
        <p:nvSpPr>
          <p:cNvPr id="6" name="CuadroTexto 5">
            <a:extLst>
              <a:ext uri="{FF2B5EF4-FFF2-40B4-BE49-F238E27FC236}">
                <a16:creationId xmlns:a16="http://schemas.microsoft.com/office/drawing/2014/main" id="{FA08740E-0309-56D4-FC7E-052EB878D758}"/>
              </a:ext>
            </a:extLst>
          </p:cNvPr>
          <p:cNvSpPr txBox="1"/>
          <p:nvPr/>
        </p:nvSpPr>
        <p:spPr>
          <a:xfrm>
            <a:off x="1538976" y="2094111"/>
            <a:ext cx="1136850" cy="400110"/>
          </a:xfrm>
          <a:prstGeom prst="rect">
            <a:avLst/>
          </a:prstGeom>
          <a:noFill/>
        </p:spPr>
        <p:txBody>
          <a:bodyPr wrap="none" rtlCol="0">
            <a:spAutoFit/>
          </a:bodyPr>
          <a:lstStyle/>
          <a:p>
            <a:r>
              <a:rPr lang="es-ES_tradnl" sz="2000" b="1" dirty="0">
                <a:latin typeface="Times New Roman" panose="02020603050405020304" pitchFamily="18" charset="0"/>
                <a:cs typeface="Times New Roman" panose="02020603050405020304" pitchFamily="18" charset="0"/>
              </a:rPr>
              <a:t>Objetivo</a:t>
            </a:r>
          </a:p>
        </p:txBody>
      </p:sp>
      <p:sp>
        <p:nvSpPr>
          <p:cNvPr id="8" name="CuadroTexto 7">
            <a:extLst>
              <a:ext uri="{FF2B5EF4-FFF2-40B4-BE49-F238E27FC236}">
                <a16:creationId xmlns:a16="http://schemas.microsoft.com/office/drawing/2014/main" id="{AA5490A3-46A5-EC74-CA3C-1B40D0822ECF}"/>
              </a:ext>
            </a:extLst>
          </p:cNvPr>
          <p:cNvSpPr txBox="1"/>
          <p:nvPr/>
        </p:nvSpPr>
        <p:spPr>
          <a:xfrm>
            <a:off x="753320" y="2633338"/>
            <a:ext cx="2922608" cy="2308324"/>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Evaluar, en condiciones de laboratorio, las propiedades insecticidas del aceite esencial de follaje e inflorescencia de paico contra adultos de </a:t>
            </a:r>
            <a:r>
              <a:rPr lang="es-PE" i="1" dirty="0">
                <a:latin typeface="Times New Roman" panose="02020603050405020304" pitchFamily="18" charset="0"/>
                <a:cs typeface="Times New Roman" panose="02020603050405020304" pitchFamily="18" charset="0"/>
              </a:rPr>
              <a:t>S. zeamais </a:t>
            </a:r>
            <a:r>
              <a:rPr lang="es-PE" dirty="0">
                <a:latin typeface="Times New Roman" panose="02020603050405020304" pitchFamily="18" charset="0"/>
                <a:cs typeface="Times New Roman" panose="02020603050405020304" pitchFamily="18" charset="0"/>
              </a:rPr>
              <a:t>y su efecto sobre la germinación del maíz. </a:t>
            </a:r>
            <a:endParaRPr lang="es-ES_tradnl" dirty="0">
              <a:latin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F862BE6C-D8B7-3C83-033A-16B0F6773B06}"/>
              </a:ext>
            </a:extLst>
          </p:cNvPr>
          <p:cNvSpPr txBox="1"/>
          <p:nvPr/>
        </p:nvSpPr>
        <p:spPr>
          <a:xfrm>
            <a:off x="5011837" y="1353959"/>
            <a:ext cx="2123955"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Material vegetal</a:t>
            </a:r>
            <a:endParaRPr lang="es-ES_tradnl" b="1"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63B7627F-9437-4861-DEA6-2417B8D55A8C}"/>
              </a:ext>
            </a:extLst>
          </p:cNvPr>
          <p:cNvSpPr txBox="1"/>
          <p:nvPr/>
        </p:nvSpPr>
        <p:spPr>
          <a:xfrm>
            <a:off x="7135792" y="801124"/>
            <a:ext cx="2505919" cy="400110"/>
          </a:xfrm>
          <a:prstGeom prst="rect">
            <a:avLst/>
          </a:prstGeom>
          <a:noFill/>
        </p:spPr>
        <p:txBody>
          <a:bodyPr wrap="square">
            <a:spAutoFit/>
          </a:bodyPr>
          <a:lstStyle/>
          <a:p>
            <a:r>
              <a:rPr lang="es-PE" sz="2000" b="1" dirty="0">
                <a:latin typeface="Times New Roman" panose="02020603050405020304" pitchFamily="18" charset="0"/>
                <a:cs typeface="Times New Roman" panose="02020603050405020304" pitchFamily="18" charset="0"/>
              </a:rPr>
              <a:t>Materiales y métodos</a:t>
            </a:r>
            <a:endParaRPr lang="es-ES_tradnl" sz="2000" b="1" dirty="0">
              <a:latin typeface="Times New Roman" panose="02020603050405020304" pitchFamily="18" charset="0"/>
              <a:cs typeface="Times New Roman" panose="02020603050405020304" pitchFamily="18" charset="0"/>
            </a:endParaRPr>
          </a:p>
        </p:txBody>
      </p:sp>
      <p:sp>
        <p:nvSpPr>
          <p:cNvPr id="14" name="CuadroTexto 13">
            <a:extLst>
              <a:ext uri="{FF2B5EF4-FFF2-40B4-BE49-F238E27FC236}">
                <a16:creationId xmlns:a16="http://schemas.microsoft.com/office/drawing/2014/main" id="{3CAD2C23-BDEB-F99D-82CA-4D4D70065DA9}"/>
              </a:ext>
            </a:extLst>
          </p:cNvPr>
          <p:cNvSpPr txBox="1"/>
          <p:nvPr/>
        </p:nvSpPr>
        <p:spPr>
          <a:xfrm>
            <a:off x="4806387" y="1723291"/>
            <a:ext cx="6099858" cy="1754326"/>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La recolección se hizo en la etapa de floración, ya que según Tavares y Vendramim (2005) en este estado fenológico se produce la mayor concentración de compuestos químicos secundarios. El aceite esencial se extrajo por hidrodestilación mediante arrastre de vapor con un extractor tipo Clevenger durante dos horas.</a:t>
            </a:r>
            <a:endParaRPr lang="es-ES_tradnl" dirty="0">
              <a:latin typeface="Times New Roman" panose="02020603050405020304" pitchFamily="18" charset="0"/>
              <a:cs typeface="Times New Roman" panose="02020603050405020304" pitchFamily="18" charset="0"/>
            </a:endParaRPr>
          </a:p>
        </p:txBody>
      </p:sp>
      <p:sp>
        <p:nvSpPr>
          <p:cNvPr id="16" name="CuadroTexto 15">
            <a:extLst>
              <a:ext uri="{FF2B5EF4-FFF2-40B4-BE49-F238E27FC236}">
                <a16:creationId xmlns:a16="http://schemas.microsoft.com/office/drawing/2014/main" id="{6B05619C-1B80-CD9B-173A-20AEAFCEC224}"/>
              </a:ext>
            </a:extLst>
          </p:cNvPr>
          <p:cNvSpPr txBox="1"/>
          <p:nvPr/>
        </p:nvSpPr>
        <p:spPr>
          <a:xfrm>
            <a:off x="4806387" y="3958979"/>
            <a:ext cx="6099858" cy="1200329"/>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Se utilizaron ejemplares adultos de </a:t>
            </a:r>
            <a:r>
              <a:rPr lang="es-PE" i="1" dirty="0">
                <a:latin typeface="Times New Roman" panose="02020603050405020304" pitchFamily="18" charset="0"/>
                <a:cs typeface="Times New Roman" panose="02020603050405020304" pitchFamily="18" charset="0"/>
              </a:rPr>
              <a:t>S. zeamais </a:t>
            </a:r>
            <a:r>
              <a:rPr lang="es-PE" dirty="0">
                <a:latin typeface="Times New Roman" panose="02020603050405020304" pitchFamily="18" charset="0"/>
                <a:cs typeface="Times New Roman" panose="02020603050405020304" pitchFamily="18" charset="0"/>
              </a:rPr>
              <a:t>provenientes de colonias permanentes que se mantienen en el Laboratorio, se mantienen en condiciones controladas de 30 ± 2°C de temperatura, 60 ± 5% de humedad relativa y oscuridad total </a:t>
            </a:r>
            <a:endParaRPr lang="es-ES_tradnl" dirty="0">
              <a:latin typeface="Times New Roman" panose="02020603050405020304" pitchFamily="18" charset="0"/>
              <a:cs typeface="Times New Roman" panose="02020603050405020304" pitchFamily="18" charset="0"/>
            </a:endParaRPr>
          </a:p>
        </p:txBody>
      </p:sp>
      <p:sp>
        <p:nvSpPr>
          <p:cNvPr id="18" name="CuadroTexto 17">
            <a:extLst>
              <a:ext uri="{FF2B5EF4-FFF2-40B4-BE49-F238E27FC236}">
                <a16:creationId xmlns:a16="http://schemas.microsoft.com/office/drawing/2014/main" id="{1CE6529D-E9EB-CFE7-55B2-9C1A1FF612DA}"/>
              </a:ext>
            </a:extLst>
          </p:cNvPr>
          <p:cNvSpPr txBox="1"/>
          <p:nvPr/>
        </p:nvSpPr>
        <p:spPr>
          <a:xfrm>
            <a:off x="5107330" y="3520177"/>
            <a:ext cx="6099858"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Insectos</a:t>
            </a:r>
            <a:endParaRPr lang="es-ES_tradnl" b="1" dirty="0"/>
          </a:p>
        </p:txBody>
      </p:sp>
      <p:pic>
        <p:nvPicPr>
          <p:cNvPr id="19" name="Picture 6" descr="Buenos días..alguien que me confirme que esto sea epazote o paico por  favor?? Gracias">
            <a:extLst>
              <a:ext uri="{FF2B5EF4-FFF2-40B4-BE49-F238E27FC236}">
                <a16:creationId xmlns:a16="http://schemas.microsoft.com/office/drawing/2014/main" id="{0B2A4855-121A-2286-871B-14A00EEF7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5942" y="286040"/>
            <a:ext cx="1242532" cy="2063621"/>
          </a:xfrm>
          <a:prstGeom prst="rect">
            <a:avLst/>
          </a:prstGeom>
          <a:noFill/>
          <a:extLst>
            <a:ext uri="{909E8E84-426E-40DD-AFC4-6F175D3DCCD1}">
              <a14:hiddenFill xmlns:a14="http://schemas.microsoft.com/office/drawing/2010/main">
                <a:solidFill>
                  <a:srgbClr val="FFFFFF"/>
                </a:solidFill>
              </a14:hiddenFill>
            </a:ext>
          </a:extLst>
        </p:spPr>
      </p:pic>
      <p:sp>
        <p:nvSpPr>
          <p:cNvPr id="20" name="Corazón 19">
            <a:extLst>
              <a:ext uri="{FF2B5EF4-FFF2-40B4-BE49-F238E27FC236}">
                <a16:creationId xmlns:a16="http://schemas.microsoft.com/office/drawing/2014/main" id="{5D8FCD41-CD5A-BB75-7260-BA6CC52ADAAA}"/>
              </a:ext>
            </a:extLst>
          </p:cNvPr>
          <p:cNvSpPr/>
          <p:nvPr/>
        </p:nvSpPr>
        <p:spPr>
          <a:xfrm>
            <a:off x="114834" y="6488666"/>
            <a:ext cx="439837" cy="368841"/>
          </a:xfrm>
          <a:prstGeom prst="hear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accent1">
                    <a:lumMod val="50000"/>
                  </a:schemeClr>
                </a:solidFill>
              </a:rPr>
              <a:t>3</a:t>
            </a:r>
          </a:p>
        </p:txBody>
      </p:sp>
      <p:sp>
        <p:nvSpPr>
          <p:cNvPr id="21" name="CuadroTexto 20">
            <a:extLst>
              <a:ext uri="{FF2B5EF4-FFF2-40B4-BE49-F238E27FC236}">
                <a16:creationId xmlns:a16="http://schemas.microsoft.com/office/drawing/2014/main" id="{F8577630-B305-A79B-7605-7A43F820255B}"/>
              </a:ext>
            </a:extLst>
          </p:cNvPr>
          <p:cNvSpPr txBox="1"/>
          <p:nvPr/>
        </p:nvSpPr>
        <p:spPr>
          <a:xfrm>
            <a:off x="4200188" y="6460353"/>
            <a:ext cx="5871208" cy="307777"/>
          </a:xfrm>
          <a:prstGeom prst="rect">
            <a:avLst/>
          </a:prstGeom>
          <a:noFill/>
        </p:spPr>
        <p:txBody>
          <a:bodyPr wrap="square">
            <a:spAutoFit/>
          </a:bodyPr>
          <a:lstStyle/>
          <a:p>
            <a:r>
              <a:rPr lang="es-PE" sz="1400" b="0" i="0" dirty="0">
                <a:solidFill>
                  <a:schemeClr val="bg1"/>
                </a:solidFill>
                <a:effectLst/>
                <a:latin typeface="Times New Roman" panose="02020603050405020304" pitchFamily="18" charset="0"/>
                <a:cs typeface="Times New Roman" panose="02020603050405020304" pitchFamily="18" charset="0"/>
              </a:rPr>
              <a:t>DOI:</a:t>
            </a:r>
            <a:r>
              <a:rPr lang="es-PE" sz="1400" b="0" i="0" u="sng" dirty="0">
                <a:solidFill>
                  <a:schemeClr val="bg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10.4067/S0719-38902019005000504</a:t>
            </a:r>
            <a:endParaRPr lang="es-ES_tradnl"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3440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Página Principal | Escuela de Posgrado UNTRM">
            <a:extLst>
              <a:ext uri="{FF2B5EF4-FFF2-40B4-BE49-F238E27FC236}">
                <a16:creationId xmlns:a16="http://schemas.microsoft.com/office/drawing/2014/main" id="{A8325071-FB6F-8781-8682-9BD6143C0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834" y="178739"/>
            <a:ext cx="2848285" cy="96715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38273336-F390-6CA1-724E-3A380236EA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429108"/>
            <a:ext cx="12192000" cy="431333"/>
          </a:xfrm>
          <a:prstGeom prst="rect">
            <a:avLst/>
          </a:prstGeom>
        </p:spPr>
      </p:pic>
      <p:sp>
        <p:nvSpPr>
          <p:cNvPr id="7" name="CuadroTexto 6">
            <a:extLst>
              <a:ext uri="{FF2B5EF4-FFF2-40B4-BE49-F238E27FC236}">
                <a16:creationId xmlns:a16="http://schemas.microsoft.com/office/drawing/2014/main" id="{BD43419B-7C74-9873-D40F-B4F6C5AF6CDD}"/>
              </a:ext>
            </a:extLst>
          </p:cNvPr>
          <p:cNvSpPr txBox="1"/>
          <p:nvPr/>
        </p:nvSpPr>
        <p:spPr>
          <a:xfrm>
            <a:off x="1538976" y="1089579"/>
            <a:ext cx="6099858" cy="400110"/>
          </a:xfrm>
          <a:prstGeom prst="rect">
            <a:avLst/>
          </a:prstGeom>
          <a:noFill/>
        </p:spPr>
        <p:txBody>
          <a:bodyPr wrap="square">
            <a:spAutoFit/>
          </a:bodyPr>
          <a:lstStyle/>
          <a:p>
            <a:r>
              <a:rPr lang="es-PE" sz="2000" b="1" dirty="0">
                <a:latin typeface="Times New Roman" panose="02020603050405020304" pitchFamily="18" charset="0"/>
                <a:cs typeface="Times New Roman" panose="02020603050405020304" pitchFamily="18" charset="0"/>
              </a:rPr>
              <a:t>Materiales y métodos</a:t>
            </a:r>
            <a:endParaRPr lang="es-ES_tradnl" sz="2000" b="1"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3FDA1B4F-644B-2C88-B786-585261F13316}"/>
              </a:ext>
            </a:extLst>
          </p:cNvPr>
          <p:cNvSpPr txBox="1"/>
          <p:nvPr/>
        </p:nvSpPr>
        <p:spPr>
          <a:xfrm>
            <a:off x="816014" y="1726860"/>
            <a:ext cx="4658811"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Diseño experimental y análisis estadístico</a:t>
            </a:r>
            <a:endParaRPr lang="es-ES_tradnl" b="1" dirty="0">
              <a:latin typeface="Times New Roman" panose="02020603050405020304" pitchFamily="18" charset="0"/>
              <a:cs typeface="Times New Roman" panose="02020603050405020304" pitchFamily="18" charset="0"/>
            </a:endParaRPr>
          </a:p>
        </p:txBody>
      </p:sp>
      <p:sp>
        <p:nvSpPr>
          <p:cNvPr id="13" name="CuadroTexto 12">
            <a:extLst>
              <a:ext uri="{FF2B5EF4-FFF2-40B4-BE49-F238E27FC236}">
                <a16:creationId xmlns:a16="http://schemas.microsoft.com/office/drawing/2014/main" id="{E12516C1-3A45-4F50-6415-89C721CC117D}"/>
              </a:ext>
            </a:extLst>
          </p:cNvPr>
          <p:cNvSpPr txBox="1"/>
          <p:nvPr/>
        </p:nvSpPr>
        <p:spPr>
          <a:xfrm>
            <a:off x="587415" y="2206794"/>
            <a:ext cx="4751408" cy="646331"/>
          </a:xfrm>
          <a:prstGeom prst="rect">
            <a:avLst/>
          </a:prstGeom>
          <a:noFill/>
        </p:spPr>
        <p:txBody>
          <a:bodyPr wrap="square">
            <a:spAutoFit/>
          </a:bodyPr>
          <a:lstStyle/>
          <a:p>
            <a:r>
              <a:rPr lang="es-PE" dirty="0">
                <a:latin typeface="Times New Roman" panose="02020603050405020304" pitchFamily="18" charset="0"/>
                <a:cs typeface="Times New Roman" panose="02020603050405020304" pitchFamily="18" charset="0"/>
              </a:rPr>
              <a:t>El diseño experimental fue completamente al azar. Cada tratamiento tuvo cuatro repeticiones </a:t>
            </a:r>
            <a:endParaRPr lang="es-ES_tradnl" dirty="0">
              <a:latin typeface="Times New Roman" panose="02020603050405020304" pitchFamily="18" charset="0"/>
              <a:cs typeface="Times New Roman" panose="02020603050405020304" pitchFamily="18" charset="0"/>
            </a:endParaRPr>
          </a:p>
        </p:txBody>
      </p:sp>
      <p:graphicFrame>
        <p:nvGraphicFramePr>
          <p:cNvPr id="16" name="Tabla 15">
            <a:extLst>
              <a:ext uri="{FF2B5EF4-FFF2-40B4-BE49-F238E27FC236}">
                <a16:creationId xmlns:a16="http://schemas.microsoft.com/office/drawing/2014/main" id="{6781F279-9E1F-1D4D-A5C9-FF9290CF1AFB}"/>
              </a:ext>
            </a:extLst>
          </p:cNvPr>
          <p:cNvGraphicFramePr>
            <a:graphicFrameLocks noGrp="1"/>
          </p:cNvGraphicFramePr>
          <p:nvPr>
            <p:extLst>
              <p:ext uri="{D42A27DB-BD31-4B8C-83A1-F6EECF244321}">
                <p14:modId xmlns:p14="http://schemas.microsoft.com/office/powerpoint/2010/main" val="4113419428"/>
              </p:ext>
            </p:extLst>
          </p:nvPr>
        </p:nvGraphicFramePr>
        <p:xfrm>
          <a:off x="202557" y="3046491"/>
          <a:ext cx="4994478" cy="2560320"/>
        </p:xfrm>
        <a:graphic>
          <a:graphicData uri="http://schemas.openxmlformats.org/drawingml/2006/table">
            <a:tbl>
              <a:tblPr>
                <a:tableStyleId>{8799B23B-EC83-4686-B30A-512413B5E67A}</a:tableStyleId>
              </a:tblPr>
              <a:tblGrid>
                <a:gridCol w="1302154">
                  <a:extLst>
                    <a:ext uri="{9D8B030D-6E8A-4147-A177-3AD203B41FA5}">
                      <a16:colId xmlns:a16="http://schemas.microsoft.com/office/drawing/2014/main" val="2547935505"/>
                    </a:ext>
                  </a:extLst>
                </a:gridCol>
                <a:gridCol w="1551008">
                  <a:extLst>
                    <a:ext uri="{9D8B030D-6E8A-4147-A177-3AD203B41FA5}">
                      <a16:colId xmlns:a16="http://schemas.microsoft.com/office/drawing/2014/main" val="1885469913"/>
                    </a:ext>
                  </a:extLst>
                </a:gridCol>
                <a:gridCol w="2141316">
                  <a:extLst>
                    <a:ext uri="{9D8B030D-6E8A-4147-A177-3AD203B41FA5}">
                      <a16:colId xmlns:a16="http://schemas.microsoft.com/office/drawing/2014/main" val="1337578346"/>
                    </a:ext>
                  </a:extLst>
                </a:gridCol>
              </a:tblGrid>
              <a:tr h="319280">
                <a:tc>
                  <a:txBody>
                    <a:bodyPr/>
                    <a:lstStyle/>
                    <a:p>
                      <a:r>
                        <a:rPr lang="es-PE">
                          <a:latin typeface="Times New Roman" panose="02020603050405020304" pitchFamily="18" charset="0"/>
                          <a:cs typeface="Times New Roman" panose="02020603050405020304" pitchFamily="18" charset="0"/>
                        </a:rPr>
                        <a:t>Tratamiento</a:t>
                      </a:r>
                    </a:p>
                  </a:txBody>
                  <a:tcPr anchor="ctr"/>
                </a:tc>
                <a:tc>
                  <a:txBody>
                    <a:bodyPr/>
                    <a:lstStyle/>
                    <a:p>
                      <a:r>
                        <a:rPr lang="es-PE">
                          <a:latin typeface="Times New Roman" panose="02020603050405020304" pitchFamily="18" charset="0"/>
                          <a:cs typeface="Times New Roman" panose="02020603050405020304" pitchFamily="18" charset="0"/>
                        </a:rPr>
                        <a:t>Concentración</a:t>
                      </a:r>
                    </a:p>
                  </a:txBody>
                  <a:tcPr anchor="ctr"/>
                </a:tc>
                <a:tc>
                  <a:txBody>
                    <a:bodyPr/>
                    <a:lstStyle/>
                    <a:p>
                      <a:r>
                        <a:rPr lang="es-PE">
                          <a:latin typeface="Times New Roman" panose="02020603050405020304" pitchFamily="18" charset="0"/>
                          <a:cs typeface="Times New Roman" panose="02020603050405020304" pitchFamily="18" charset="0"/>
                        </a:rPr>
                        <a:t>Tipo de diluyente</a:t>
                      </a:r>
                    </a:p>
                  </a:txBody>
                  <a:tcPr anchor="ctr"/>
                </a:tc>
                <a:extLst>
                  <a:ext uri="{0D108BD9-81ED-4DB2-BD59-A6C34878D82A}">
                    <a16:rowId xmlns:a16="http://schemas.microsoft.com/office/drawing/2014/main" val="3751990499"/>
                  </a:ext>
                </a:extLst>
              </a:tr>
              <a:tr h="319280">
                <a:tc>
                  <a:txBody>
                    <a:bodyPr/>
                    <a:lstStyle/>
                    <a:p>
                      <a:r>
                        <a:rPr lang="es-PE" dirty="0">
                          <a:latin typeface="Times New Roman" panose="02020603050405020304" pitchFamily="18" charset="0"/>
                          <a:cs typeface="Times New Roman" panose="02020603050405020304" pitchFamily="18" charset="0"/>
                        </a:rPr>
                        <a:t>Testigo</a:t>
                      </a:r>
                    </a:p>
                  </a:txBody>
                  <a:tcPr anchor="ctr"/>
                </a:tc>
                <a:tc>
                  <a:txBody>
                    <a:bodyPr/>
                    <a:lstStyle/>
                    <a:p>
                      <a:r>
                        <a:rPr lang="es-PE">
                          <a:latin typeface="Times New Roman" panose="02020603050405020304" pitchFamily="18" charset="0"/>
                          <a:cs typeface="Times New Roman" panose="02020603050405020304" pitchFamily="18" charset="0"/>
                        </a:rPr>
                        <a:t>0 %</a:t>
                      </a:r>
                    </a:p>
                  </a:txBody>
                  <a:tcPr anchor="ctr"/>
                </a:tc>
                <a:tc>
                  <a:txBody>
                    <a:bodyPr/>
                    <a:lstStyle/>
                    <a:p>
                      <a:r>
                        <a:rPr lang="es-PE" dirty="0">
                          <a:latin typeface="Times New Roman" panose="02020603050405020304" pitchFamily="18" charset="0"/>
                          <a:cs typeface="Times New Roman" panose="02020603050405020304" pitchFamily="18" charset="0"/>
                        </a:rPr>
                        <a:t>Solo acetona</a:t>
                      </a:r>
                    </a:p>
                  </a:txBody>
                  <a:tcPr anchor="ctr"/>
                </a:tc>
                <a:extLst>
                  <a:ext uri="{0D108BD9-81ED-4DB2-BD59-A6C34878D82A}">
                    <a16:rowId xmlns:a16="http://schemas.microsoft.com/office/drawing/2014/main" val="2642891123"/>
                  </a:ext>
                </a:extLst>
              </a:tr>
              <a:tr h="319280">
                <a:tc>
                  <a:txBody>
                    <a:bodyPr/>
                    <a:lstStyle/>
                    <a:p>
                      <a:r>
                        <a:rPr lang="es-PE">
                          <a:latin typeface="Times New Roman" panose="02020603050405020304" pitchFamily="18" charset="0"/>
                          <a:cs typeface="Times New Roman" panose="02020603050405020304" pitchFamily="18" charset="0"/>
                        </a:rPr>
                        <a:t>T1</a:t>
                      </a:r>
                    </a:p>
                  </a:txBody>
                  <a:tcPr anchor="ctr"/>
                </a:tc>
                <a:tc>
                  <a:txBody>
                    <a:bodyPr/>
                    <a:lstStyle/>
                    <a:p>
                      <a:r>
                        <a:rPr lang="es-PE" b="0" dirty="0">
                          <a:latin typeface="Times New Roman" panose="02020603050405020304" pitchFamily="18" charset="0"/>
                          <a:cs typeface="Times New Roman" panose="02020603050405020304" pitchFamily="18" charset="0"/>
                        </a:rPr>
                        <a:t>0,25 % </a:t>
                      </a:r>
                    </a:p>
                  </a:txBody>
                  <a:tcPr anchor="ctr"/>
                </a:tc>
                <a:tc>
                  <a:txBody>
                    <a:bodyPr/>
                    <a:lstStyle/>
                    <a:p>
                      <a:r>
                        <a:rPr lang="es-PE" dirty="0">
                          <a:latin typeface="Times New Roman" panose="02020603050405020304" pitchFamily="18" charset="0"/>
                          <a:cs typeface="Times New Roman" panose="02020603050405020304" pitchFamily="18" charset="0"/>
                        </a:rPr>
                        <a:t>Aceite en acetona</a:t>
                      </a:r>
                    </a:p>
                  </a:txBody>
                  <a:tcPr anchor="ctr"/>
                </a:tc>
                <a:extLst>
                  <a:ext uri="{0D108BD9-81ED-4DB2-BD59-A6C34878D82A}">
                    <a16:rowId xmlns:a16="http://schemas.microsoft.com/office/drawing/2014/main" val="2469219938"/>
                  </a:ext>
                </a:extLst>
              </a:tr>
              <a:tr h="319280">
                <a:tc>
                  <a:txBody>
                    <a:bodyPr/>
                    <a:lstStyle/>
                    <a:p>
                      <a:r>
                        <a:rPr lang="es-PE">
                          <a:latin typeface="Times New Roman" panose="02020603050405020304" pitchFamily="18" charset="0"/>
                          <a:cs typeface="Times New Roman" panose="02020603050405020304" pitchFamily="18" charset="0"/>
                        </a:rPr>
                        <a:t>T2</a:t>
                      </a:r>
                    </a:p>
                  </a:txBody>
                  <a:tcPr anchor="ctr"/>
                </a:tc>
                <a:tc>
                  <a:txBody>
                    <a:bodyPr/>
                    <a:lstStyle/>
                    <a:p>
                      <a:r>
                        <a:rPr lang="es-PE" b="0" dirty="0">
                          <a:latin typeface="Times New Roman" panose="02020603050405020304" pitchFamily="18" charset="0"/>
                          <a:cs typeface="Times New Roman" panose="02020603050405020304" pitchFamily="18" charset="0"/>
                        </a:rPr>
                        <a:t>0,5 % </a:t>
                      </a:r>
                    </a:p>
                  </a:txBody>
                  <a:tcPr anchor="ctr"/>
                </a:tc>
                <a:tc>
                  <a:txBody>
                    <a:bodyPr/>
                    <a:lstStyle/>
                    <a:p>
                      <a:r>
                        <a:rPr lang="es-PE">
                          <a:latin typeface="Times New Roman" panose="02020603050405020304" pitchFamily="18" charset="0"/>
                          <a:cs typeface="Times New Roman" panose="02020603050405020304" pitchFamily="18" charset="0"/>
                        </a:rPr>
                        <a:t>Aceite en acetona</a:t>
                      </a:r>
                    </a:p>
                  </a:txBody>
                  <a:tcPr anchor="ctr"/>
                </a:tc>
                <a:extLst>
                  <a:ext uri="{0D108BD9-81ED-4DB2-BD59-A6C34878D82A}">
                    <a16:rowId xmlns:a16="http://schemas.microsoft.com/office/drawing/2014/main" val="3178922859"/>
                  </a:ext>
                </a:extLst>
              </a:tr>
              <a:tr h="319280">
                <a:tc>
                  <a:txBody>
                    <a:bodyPr/>
                    <a:lstStyle/>
                    <a:p>
                      <a:r>
                        <a:rPr lang="es-PE">
                          <a:latin typeface="Times New Roman" panose="02020603050405020304" pitchFamily="18" charset="0"/>
                          <a:cs typeface="Times New Roman" panose="02020603050405020304" pitchFamily="18" charset="0"/>
                        </a:rPr>
                        <a:t>T3</a:t>
                      </a:r>
                    </a:p>
                  </a:txBody>
                  <a:tcPr anchor="ctr"/>
                </a:tc>
                <a:tc>
                  <a:txBody>
                    <a:bodyPr/>
                    <a:lstStyle/>
                    <a:p>
                      <a:r>
                        <a:rPr lang="es-PE" b="0" dirty="0">
                          <a:latin typeface="Times New Roman" panose="02020603050405020304" pitchFamily="18" charset="0"/>
                          <a:cs typeface="Times New Roman" panose="02020603050405020304" pitchFamily="18" charset="0"/>
                        </a:rPr>
                        <a:t>1,0 % </a:t>
                      </a:r>
                    </a:p>
                  </a:txBody>
                  <a:tcPr anchor="ctr"/>
                </a:tc>
                <a:tc>
                  <a:txBody>
                    <a:bodyPr/>
                    <a:lstStyle/>
                    <a:p>
                      <a:r>
                        <a:rPr lang="es-PE">
                          <a:latin typeface="Times New Roman" panose="02020603050405020304" pitchFamily="18" charset="0"/>
                          <a:cs typeface="Times New Roman" panose="02020603050405020304" pitchFamily="18" charset="0"/>
                        </a:rPr>
                        <a:t>Aceite en acetona</a:t>
                      </a:r>
                    </a:p>
                  </a:txBody>
                  <a:tcPr anchor="ctr"/>
                </a:tc>
                <a:extLst>
                  <a:ext uri="{0D108BD9-81ED-4DB2-BD59-A6C34878D82A}">
                    <a16:rowId xmlns:a16="http://schemas.microsoft.com/office/drawing/2014/main" val="2865690766"/>
                  </a:ext>
                </a:extLst>
              </a:tr>
              <a:tr h="319280">
                <a:tc>
                  <a:txBody>
                    <a:bodyPr/>
                    <a:lstStyle/>
                    <a:p>
                      <a:r>
                        <a:rPr lang="es-PE">
                          <a:latin typeface="Times New Roman" panose="02020603050405020304" pitchFamily="18" charset="0"/>
                          <a:cs typeface="Times New Roman" panose="02020603050405020304" pitchFamily="18" charset="0"/>
                        </a:rPr>
                        <a:t>T4</a:t>
                      </a:r>
                    </a:p>
                  </a:txBody>
                  <a:tcPr anchor="ctr"/>
                </a:tc>
                <a:tc>
                  <a:txBody>
                    <a:bodyPr/>
                    <a:lstStyle/>
                    <a:p>
                      <a:r>
                        <a:rPr lang="es-PE" b="0" dirty="0">
                          <a:latin typeface="Times New Roman" panose="02020603050405020304" pitchFamily="18" charset="0"/>
                          <a:cs typeface="Times New Roman" panose="02020603050405020304" pitchFamily="18" charset="0"/>
                        </a:rPr>
                        <a:t>2,0 % </a:t>
                      </a:r>
                    </a:p>
                  </a:txBody>
                  <a:tcPr anchor="ctr"/>
                </a:tc>
                <a:tc>
                  <a:txBody>
                    <a:bodyPr/>
                    <a:lstStyle/>
                    <a:p>
                      <a:r>
                        <a:rPr lang="es-PE">
                          <a:latin typeface="Times New Roman" panose="02020603050405020304" pitchFamily="18" charset="0"/>
                          <a:cs typeface="Times New Roman" panose="02020603050405020304" pitchFamily="18" charset="0"/>
                        </a:rPr>
                        <a:t>Aceite en acetona</a:t>
                      </a:r>
                    </a:p>
                  </a:txBody>
                  <a:tcPr anchor="ctr"/>
                </a:tc>
                <a:extLst>
                  <a:ext uri="{0D108BD9-81ED-4DB2-BD59-A6C34878D82A}">
                    <a16:rowId xmlns:a16="http://schemas.microsoft.com/office/drawing/2014/main" val="3469945861"/>
                  </a:ext>
                </a:extLst>
              </a:tr>
              <a:tr h="319280">
                <a:tc>
                  <a:txBody>
                    <a:bodyPr/>
                    <a:lstStyle/>
                    <a:p>
                      <a:r>
                        <a:rPr lang="es-PE">
                          <a:latin typeface="Times New Roman" panose="02020603050405020304" pitchFamily="18" charset="0"/>
                          <a:cs typeface="Times New Roman" panose="02020603050405020304" pitchFamily="18" charset="0"/>
                        </a:rPr>
                        <a:t>T5</a:t>
                      </a:r>
                    </a:p>
                  </a:txBody>
                  <a:tcPr anchor="ctr"/>
                </a:tc>
                <a:tc>
                  <a:txBody>
                    <a:bodyPr/>
                    <a:lstStyle/>
                    <a:p>
                      <a:r>
                        <a:rPr lang="es-PE" b="0" dirty="0">
                          <a:latin typeface="Times New Roman" panose="02020603050405020304" pitchFamily="18" charset="0"/>
                          <a:cs typeface="Times New Roman" panose="02020603050405020304" pitchFamily="18" charset="0"/>
                        </a:rPr>
                        <a:t>4,0 % </a:t>
                      </a:r>
                    </a:p>
                  </a:txBody>
                  <a:tcPr anchor="ctr"/>
                </a:tc>
                <a:tc>
                  <a:txBody>
                    <a:bodyPr/>
                    <a:lstStyle/>
                    <a:p>
                      <a:r>
                        <a:rPr lang="es-PE" dirty="0">
                          <a:latin typeface="Times New Roman" panose="02020603050405020304" pitchFamily="18" charset="0"/>
                          <a:cs typeface="Times New Roman" panose="02020603050405020304" pitchFamily="18" charset="0"/>
                        </a:rPr>
                        <a:t>Aceite en acetona</a:t>
                      </a:r>
                    </a:p>
                  </a:txBody>
                  <a:tcPr anchor="ctr"/>
                </a:tc>
                <a:extLst>
                  <a:ext uri="{0D108BD9-81ED-4DB2-BD59-A6C34878D82A}">
                    <a16:rowId xmlns:a16="http://schemas.microsoft.com/office/drawing/2014/main" val="2189794154"/>
                  </a:ext>
                </a:extLst>
              </a:tr>
            </a:tbl>
          </a:graphicData>
        </a:graphic>
      </p:graphicFrame>
      <p:sp>
        <p:nvSpPr>
          <p:cNvPr id="18" name="CuadroTexto 17">
            <a:extLst>
              <a:ext uri="{FF2B5EF4-FFF2-40B4-BE49-F238E27FC236}">
                <a16:creationId xmlns:a16="http://schemas.microsoft.com/office/drawing/2014/main" id="{4156C2F2-74C5-D803-A56A-D4E91F95CB9C}"/>
              </a:ext>
            </a:extLst>
          </p:cNvPr>
          <p:cNvSpPr txBox="1"/>
          <p:nvPr/>
        </p:nvSpPr>
        <p:spPr>
          <a:xfrm>
            <a:off x="7459884" y="1435383"/>
            <a:ext cx="2934183"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RESULTADOS </a:t>
            </a:r>
            <a:endParaRPr lang="es-ES_tradnl" b="1" dirty="0">
              <a:latin typeface="Times New Roman" panose="02020603050405020304" pitchFamily="18" charset="0"/>
              <a:cs typeface="Times New Roman" panose="02020603050405020304" pitchFamily="18" charset="0"/>
            </a:endParaRPr>
          </a:p>
        </p:txBody>
      </p:sp>
      <p:pic>
        <p:nvPicPr>
          <p:cNvPr id="20" name="Imagen 19">
            <a:extLst>
              <a:ext uri="{FF2B5EF4-FFF2-40B4-BE49-F238E27FC236}">
                <a16:creationId xmlns:a16="http://schemas.microsoft.com/office/drawing/2014/main" id="{FEC65480-EF00-325E-613A-9BA5D24E12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23" y="2041886"/>
            <a:ext cx="6725113" cy="3238850"/>
          </a:xfrm>
          <a:prstGeom prst="rect">
            <a:avLst/>
          </a:prstGeom>
        </p:spPr>
      </p:pic>
      <p:pic>
        <p:nvPicPr>
          <p:cNvPr id="21" name="Picture 6" descr="Buenos días..alguien que me confirme que esto sea epazote o paico por  favor?? Gracias">
            <a:extLst>
              <a:ext uri="{FF2B5EF4-FFF2-40B4-BE49-F238E27FC236}">
                <a16:creationId xmlns:a16="http://schemas.microsoft.com/office/drawing/2014/main" id="{F0D55563-016F-7956-522B-9E1210A8BD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3083" y="62970"/>
            <a:ext cx="1304083" cy="2165846"/>
          </a:xfrm>
          <a:prstGeom prst="rect">
            <a:avLst/>
          </a:prstGeom>
          <a:noFill/>
          <a:extLst>
            <a:ext uri="{909E8E84-426E-40DD-AFC4-6F175D3DCCD1}">
              <a14:hiddenFill xmlns:a14="http://schemas.microsoft.com/office/drawing/2010/main">
                <a:solidFill>
                  <a:srgbClr val="FFFFFF"/>
                </a:solidFill>
              </a14:hiddenFill>
            </a:ext>
          </a:extLst>
        </p:spPr>
      </p:pic>
      <p:sp>
        <p:nvSpPr>
          <p:cNvPr id="22" name="Corazón 21">
            <a:extLst>
              <a:ext uri="{FF2B5EF4-FFF2-40B4-BE49-F238E27FC236}">
                <a16:creationId xmlns:a16="http://schemas.microsoft.com/office/drawing/2014/main" id="{6B5912A5-0CCC-B625-B771-BEB99D09616E}"/>
              </a:ext>
            </a:extLst>
          </p:cNvPr>
          <p:cNvSpPr/>
          <p:nvPr/>
        </p:nvSpPr>
        <p:spPr>
          <a:xfrm>
            <a:off x="164939" y="6474585"/>
            <a:ext cx="439837" cy="368841"/>
          </a:xfrm>
          <a:prstGeom prst="hear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accent1">
                    <a:lumMod val="50000"/>
                  </a:schemeClr>
                </a:solidFill>
              </a:rPr>
              <a:t>4</a:t>
            </a:r>
          </a:p>
        </p:txBody>
      </p:sp>
      <p:sp>
        <p:nvSpPr>
          <p:cNvPr id="23" name="CuadroTexto 22">
            <a:extLst>
              <a:ext uri="{FF2B5EF4-FFF2-40B4-BE49-F238E27FC236}">
                <a16:creationId xmlns:a16="http://schemas.microsoft.com/office/drawing/2014/main" id="{77E79AF7-42FA-BEAD-2421-A1E19E42DD42}"/>
              </a:ext>
            </a:extLst>
          </p:cNvPr>
          <p:cNvSpPr txBox="1"/>
          <p:nvPr/>
        </p:nvSpPr>
        <p:spPr>
          <a:xfrm>
            <a:off x="4522859" y="6429108"/>
            <a:ext cx="5871208" cy="307777"/>
          </a:xfrm>
          <a:prstGeom prst="rect">
            <a:avLst/>
          </a:prstGeom>
          <a:noFill/>
        </p:spPr>
        <p:txBody>
          <a:bodyPr wrap="square">
            <a:spAutoFit/>
          </a:bodyPr>
          <a:lstStyle/>
          <a:p>
            <a:r>
              <a:rPr lang="es-PE" sz="1400" b="0" i="0" dirty="0">
                <a:solidFill>
                  <a:schemeClr val="bg1"/>
                </a:solidFill>
                <a:effectLst/>
                <a:latin typeface="Times New Roman" panose="02020603050405020304" pitchFamily="18" charset="0"/>
                <a:cs typeface="Times New Roman" panose="02020603050405020304" pitchFamily="18" charset="0"/>
              </a:rPr>
              <a:t>DOI:</a:t>
            </a:r>
            <a:r>
              <a:rPr lang="es-PE" sz="1400" b="0" i="0" u="sng" dirty="0">
                <a:solidFill>
                  <a:schemeClr val="bg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10.4067/S0719-38902019005000504</a:t>
            </a:r>
            <a:endParaRPr lang="es-ES_tradnl"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791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Página Principal | Escuela de Posgrado UNTRM">
            <a:extLst>
              <a:ext uri="{FF2B5EF4-FFF2-40B4-BE49-F238E27FC236}">
                <a16:creationId xmlns:a16="http://schemas.microsoft.com/office/drawing/2014/main" id="{45488157-C1B7-D1A2-3580-4E29FCB52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834" y="178739"/>
            <a:ext cx="2848285" cy="96715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3554C67-6767-73CD-0786-94EC19B7AD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429108"/>
            <a:ext cx="12192000" cy="431333"/>
          </a:xfrm>
          <a:prstGeom prst="rect">
            <a:avLst/>
          </a:prstGeom>
        </p:spPr>
      </p:pic>
      <p:pic>
        <p:nvPicPr>
          <p:cNvPr id="7" name="Imagen 6">
            <a:extLst>
              <a:ext uri="{FF2B5EF4-FFF2-40B4-BE49-F238E27FC236}">
                <a16:creationId xmlns:a16="http://schemas.microsoft.com/office/drawing/2014/main" id="{B7882465-49A1-2F56-3B9A-F6F88CD96F26}"/>
              </a:ext>
            </a:extLst>
          </p:cNvPr>
          <p:cNvPicPr>
            <a:picLocks noChangeAspect="1"/>
          </p:cNvPicPr>
          <p:nvPr/>
        </p:nvPicPr>
        <p:blipFill rotWithShape="1">
          <a:blip r:embed="rId4">
            <a:extLst>
              <a:ext uri="{28A0092B-C50C-407E-A947-70E740481C1C}">
                <a14:useLocalDpi xmlns:a14="http://schemas.microsoft.com/office/drawing/2010/main" val="0"/>
              </a:ext>
            </a:extLst>
          </a:blip>
          <a:srcRect l="5590" t="25300" r="6946"/>
          <a:stretch/>
        </p:blipFill>
        <p:spPr>
          <a:xfrm>
            <a:off x="509286" y="2031373"/>
            <a:ext cx="5586714" cy="2402111"/>
          </a:xfrm>
          <a:prstGeom prst="rect">
            <a:avLst/>
          </a:prstGeom>
        </p:spPr>
      </p:pic>
      <p:sp>
        <p:nvSpPr>
          <p:cNvPr id="8" name="CuadroTexto 7">
            <a:extLst>
              <a:ext uri="{FF2B5EF4-FFF2-40B4-BE49-F238E27FC236}">
                <a16:creationId xmlns:a16="http://schemas.microsoft.com/office/drawing/2014/main" id="{39C0FA32-6FDE-A040-8D17-9180FD7D6F18}"/>
              </a:ext>
            </a:extLst>
          </p:cNvPr>
          <p:cNvSpPr txBox="1"/>
          <p:nvPr/>
        </p:nvSpPr>
        <p:spPr>
          <a:xfrm>
            <a:off x="5700533" y="428892"/>
            <a:ext cx="2934183"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RESULTADOS </a:t>
            </a:r>
            <a:endParaRPr lang="es-ES_tradnl" b="1" dirty="0">
              <a:latin typeface="Times New Roman" panose="02020603050405020304" pitchFamily="18" charset="0"/>
              <a:cs typeface="Times New Roman" panose="02020603050405020304" pitchFamily="18" charset="0"/>
            </a:endParaRPr>
          </a:p>
        </p:txBody>
      </p:sp>
      <p:pic>
        <p:nvPicPr>
          <p:cNvPr id="10" name="Imagen 9">
            <a:extLst>
              <a:ext uri="{FF2B5EF4-FFF2-40B4-BE49-F238E27FC236}">
                <a16:creationId xmlns:a16="http://schemas.microsoft.com/office/drawing/2014/main" id="{C8B53397-2C28-CD8F-94C0-0E6BF52A09B4}"/>
              </a:ext>
            </a:extLst>
          </p:cNvPr>
          <p:cNvPicPr>
            <a:picLocks noChangeAspect="1"/>
          </p:cNvPicPr>
          <p:nvPr/>
        </p:nvPicPr>
        <p:blipFill rotWithShape="1">
          <a:blip r:embed="rId5">
            <a:extLst>
              <a:ext uri="{28A0092B-C50C-407E-A947-70E740481C1C}">
                <a14:useLocalDpi xmlns:a14="http://schemas.microsoft.com/office/drawing/2010/main" val="0"/>
              </a:ext>
            </a:extLst>
          </a:blip>
          <a:srcRect l="7691" t="25300" r="7462"/>
          <a:stretch/>
        </p:blipFill>
        <p:spPr>
          <a:xfrm>
            <a:off x="6096000" y="3205550"/>
            <a:ext cx="5791200" cy="2455868"/>
          </a:xfrm>
          <a:prstGeom prst="rect">
            <a:avLst/>
          </a:prstGeom>
        </p:spPr>
      </p:pic>
      <p:pic>
        <p:nvPicPr>
          <p:cNvPr id="12" name="Imagen 11">
            <a:extLst>
              <a:ext uri="{FF2B5EF4-FFF2-40B4-BE49-F238E27FC236}">
                <a16:creationId xmlns:a16="http://schemas.microsoft.com/office/drawing/2014/main" id="{EC7350BA-1EE0-D9B0-ECF5-12F46C1070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4373" y="1487623"/>
            <a:ext cx="6176540" cy="392161"/>
          </a:xfrm>
          <a:prstGeom prst="rect">
            <a:avLst/>
          </a:prstGeom>
        </p:spPr>
      </p:pic>
      <p:pic>
        <p:nvPicPr>
          <p:cNvPr id="14" name="Imagen 13">
            <a:extLst>
              <a:ext uri="{FF2B5EF4-FFF2-40B4-BE49-F238E27FC236}">
                <a16:creationId xmlns:a16="http://schemas.microsoft.com/office/drawing/2014/main" id="{F0ED6D69-DA46-397B-3C60-7ED55792FD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90752" y="2763286"/>
            <a:ext cx="5801248" cy="446444"/>
          </a:xfrm>
          <a:prstGeom prst="rect">
            <a:avLst/>
          </a:prstGeom>
        </p:spPr>
      </p:pic>
      <p:pic>
        <p:nvPicPr>
          <p:cNvPr id="15" name="Picture 6" descr="Buenos días..alguien que me confirme que esto sea epazote o paico por  favor?? Gracias">
            <a:extLst>
              <a:ext uri="{FF2B5EF4-FFF2-40B4-BE49-F238E27FC236}">
                <a16:creationId xmlns:a16="http://schemas.microsoft.com/office/drawing/2014/main" id="{E86F57A8-A34B-D1B7-3287-5599C41110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23100" y="286040"/>
            <a:ext cx="1425374" cy="2367288"/>
          </a:xfrm>
          <a:prstGeom prst="rect">
            <a:avLst/>
          </a:prstGeom>
          <a:noFill/>
          <a:extLst>
            <a:ext uri="{909E8E84-426E-40DD-AFC4-6F175D3DCCD1}">
              <a14:hiddenFill xmlns:a14="http://schemas.microsoft.com/office/drawing/2010/main">
                <a:solidFill>
                  <a:srgbClr val="FFFFFF"/>
                </a:solidFill>
              </a14:hiddenFill>
            </a:ext>
          </a:extLst>
        </p:spPr>
      </p:pic>
      <p:sp>
        <p:nvSpPr>
          <p:cNvPr id="16" name="Corazón 15">
            <a:extLst>
              <a:ext uri="{FF2B5EF4-FFF2-40B4-BE49-F238E27FC236}">
                <a16:creationId xmlns:a16="http://schemas.microsoft.com/office/drawing/2014/main" id="{7E33B431-6894-4EE3-FEC6-E2A505EC5858}"/>
              </a:ext>
            </a:extLst>
          </p:cNvPr>
          <p:cNvSpPr/>
          <p:nvPr/>
        </p:nvSpPr>
        <p:spPr>
          <a:xfrm>
            <a:off x="56961" y="6460353"/>
            <a:ext cx="439837" cy="368841"/>
          </a:xfrm>
          <a:prstGeom prst="hear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accent1">
                    <a:lumMod val="50000"/>
                  </a:schemeClr>
                </a:solidFill>
              </a:rPr>
              <a:t>5</a:t>
            </a:r>
          </a:p>
        </p:txBody>
      </p:sp>
      <p:sp>
        <p:nvSpPr>
          <p:cNvPr id="17" name="CuadroTexto 16">
            <a:extLst>
              <a:ext uri="{FF2B5EF4-FFF2-40B4-BE49-F238E27FC236}">
                <a16:creationId xmlns:a16="http://schemas.microsoft.com/office/drawing/2014/main" id="{E4C0E1C4-DA49-A747-C65D-5CDCDD6E0C3A}"/>
              </a:ext>
            </a:extLst>
          </p:cNvPr>
          <p:cNvSpPr txBox="1"/>
          <p:nvPr/>
        </p:nvSpPr>
        <p:spPr>
          <a:xfrm>
            <a:off x="4455196" y="6460353"/>
            <a:ext cx="5871208" cy="307777"/>
          </a:xfrm>
          <a:prstGeom prst="rect">
            <a:avLst/>
          </a:prstGeom>
          <a:noFill/>
        </p:spPr>
        <p:txBody>
          <a:bodyPr wrap="square">
            <a:spAutoFit/>
          </a:bodyPr>
          <a:lstStyle/>
          <a:p>
            <a:r>
              <a:rPr lang="es-PE" sz="1400" b="0" i="0" dirty="0">
                <a:solidFill>
                  <a:schemeClr val="bg1"/>
                </a:solidFill>
                <a:effectLst/>
                <a:latin typeface="Times New Roman" panose="02020603050405020304" pitchFamily="18" charset="0"/>
                <a:cs typeface="Times New Roman" panose="02020603050405020304" pitchFamily="18" charset="0"/>
              </a:rPr>
              <a:t>DOI:</a:t>
            </a:r>
            <a:r>
              <a:rPr lang="es-PE" sz="1400" b="0" i="0" u="sng" dirty="0">
                <a:solidFill>
                  <a:schemeClr val="bg1"/>
                </a:solidFill>
                <a:effectLst/>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10.4067/S0719-38902019005000504</a:t>
            </a:r>
            <a:endParaRPr lang="es-ES_tradnl"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876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AD092ED-AF64-2342-7EBD-CDDACA3E22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29108"/>
            <a:ext cx="12192000" cy="431333"/>
          </a:xfrm>
          <a:prstGeom prst="rect">
            <a:avLst/>
          </a:prstGeom>
        </p:spPr>
      </p:pic>
      <p:pic>
        <p:nvPicPr>
          <p:cNvPr id="12" name="Picture 2" descr="Dar las gracias, ¿cómo enseñar a los niños?">
            <a:extLst>
              <a:ext uri="{FF2B5EF4-FFF2-40B4-BE49-F238E27FC236}">
                <a16:creationId xmlns:a16="http://schemas.microsoft.com/office/drawing/2014/main" id="{EC154BB5-366E-F819-34B1-3B9FB5C89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221041"/>
            <a:ext cx="5496909" cy="220806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5357BE02-FCA6-7A6C-D67B-303721D434B7}"/>
              </a:ext>
            </a:extLst>
          </p:cNvPr>
          <p:cNvPicPr>
            <a:picLocks noChangeAspect="1"/>
          </p:cNvPicPr>
          <p:nvPr/>
        </p:nvPicPr>
        <p:blipFill>
          <a:blip r:embed="rId4"/>
          <a:stretch>
            <a:fillRect/>
          </a:stretch>
        </p:blipFill>
        <p:spPr>
          <a:xfrm>
            <a:off x="0" y="133752"/>
            <a:ext cx="2857500" cy="965200"/>
          </a:xfrm>
          <a:prstGeom prst="rect">
            <a:avLst/>
          </a:prstGeom>
        </p:spPr>
      </p:pic>
      <p:sp>
        <p:nvSpPr>
          <p:cNvPr id="4" name="CuadroTexto 3">
            <a:extLst>
              <a:ext uri="{FF2B5EF4-FFF2-40B4-BE49-F238E27FC236}">
                <a16:creationId xmlns:a16="http://schemas.microsoft.com/office/drawing/2014/main" id="{5318A94A-43C9-C45A-C7F5-CC9E7AB92DF2}"/>
              </a:ext>
            </a:extLst>
          </p:cNvPr>
          <p:cNvSpPr txBox="1"/>
          <p:nvPr/>
        </p:nvSpPr>
        <p:spPr>
          <a:xfrm>
            <a:off x="6096000" y="1481219"/>
            <a:ext cx="1656223" cy="461665"/>
          </a:xfrm>
          <a:prstGeom prst="rect">
            <a:avLst/>
          </a:prstGeom>
          <a:noFill/>
        </p:spPr>
        <p:txBody>
          <a:bodyPr wrap="none" rtlCol="0">
            <a:spAutoFit/>
          </a:bodyPr>
          <a:lstStyle/>
          <a:p>
            <a:r>
              <a:rPr lang="es-ES_tradnl" sz="2400" b="1" dirty="0">
                <a:latin typeface="Times New Roman" panose="02020603050405020304" pitchFamily="18" charset="0"/>
                <a:cs typeface="Times New Roman" panose="02020603050405020304" pitchFamily="18" charset="0"/>
              </a:rPr>
              <a:t>Conclusión</a:t>
            </a:r>
          </a:p>
        </p:txBody>
      </p:sp>
      <p:sp>
        <p:nvSpPr>
          <p:cNvPr id="6" name="CuadroTexto 5">
            <a:extLst>
              <a:ext uri="{FF2B5EF4-FFF2-40B4-BE49-F238E27FC236}">
                <a16:creationId xmlns:a16="http://schemas.microsoft.com/office/drawing/2014/main" id="{379F46B8-AA42-DAEC-2C24-563D56EC134D}"/>
              </a:ext>
            </a:extLst>
          </p:cNvPr>
          <p:cNvSpPr txBox="1"/>
          <p:nvPr/>
        </p:nvSpPr>
        <p:spPr>
          <a:xfrm>
            <a:off x="4554638" y="2239845"/>
            <a:ext cx="4994476" cy="1754326"/>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Los resultados obtenidos permiten concluir que el aceite esencial de </a:t>
            </a:r>
            <a:r>
              <a:rPr lang="es-PE" i="1" dirty="0">
                <a:latin typeface="Times New Roman" panose="02020603050405020304" pitchFamily="18" charset="0"/>
                <a:cs typeface="Times New Roman" panose="02020603050405020304" pitchFamily="18" charset="0"/>
              </a:rPr>
              <a:t>Ch. ambrosioides </a:t>
            </a:r>
            <a:r>
              <a:rPr lang="es-PE" dirty="0">
                <a:latin typeface="Times New Roman" panose="02020603050405020304" pitchFamily="18" charset="0"/>
                <a:cs typeface="Times New Roman" panose="02020603050405020304" pitchFamily="18" charset="0"/>
              </a:rPr>
              <a:t>en condiciones de laboratorio presenta actividad insecticida fumigante e insectistática como repelente y antialimentario contra adultos de </a:t>
            </a:r>
            <a:r>
              <a:rPr lang="es-PE" i="1" dirty="0">
                <a:latin typeface="Times New Roman" panose="02020603050405020304" pitchFamily="18" charset="0"/>
                <a:cs typeface="Times New Roman" panose="02020603050405020304" pitchFamily="18" charset="0"/>
              </a:rPr>
              <a:t>S. zeamais</a:t>
            </a:r>
            <a:r>
              <a:rPr lang="es-PE" dirty="0">
                <a:latin typeface="Times New Roman" panose="02020603050405020304" pitchFamily="18" charset="0"/>
                <a:cs typeface="Times New Roman" panose="02020603050405020304" pitchFamily="18" charset="0"/>
              </a:rPr>
              <a:t>, sin afectar la germinación de semillas de maíz.</a:t>
            </a:r>
            <a:endParaRPr lang="es-ES_tradnl" dirty="0">
              <a:latin typeface="Times New Roman" panose="02020603050405020304" pitchFamily="18" charset="0"/>
              <a:cs typeface="Times New Roman" panose="02020603050405020304" pitchFamily="18" charset="0"/>
            </a:endParaRPr>
          </a:p>
        </p:txBody>
      </p:sp>
      <p:pic>
        <p:nvPicPr>
          <p:cNvPr id="9" name="Picture 6" descr="Buenos días..alguien que me confirme que esto sea epazote o paico por  favor?? Gracias">
            <a:extLst>
              <a:ext uri="{FF2B5EF4-FFF2-40B4-BE49-F238E27FC236}">
                <a16:creationId xmlns:a16="http://schemas.microsoft.com/office/drawing/2014/main" id="{9EF16450-AEC6-57A7-6F86-07C7B51B18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23100" y="286040"/>
            <a:ext cx="1425374" cy="2367288"/>
          </a:xfrm>
          <a:prstGeom prst="rect">
            <a:avLst/>
          </a:prstGeom>
          <a:noFill/>
          <a:extLst>
            <a:ext uri="{909E8E84-426E-40DD-AFC4-6F175D3DCCD1}">
              <a14:hiddenFill xmlns:a14="http://schemas.microsoft.com/office/drawing/2010/main">
                <a:solidFill>
                  <a:srgbClr val="FFFFFF"/>
                </a:solidFill>
              </a14:hiddenFill>
            </a:ext>
          </a:extLst>
        </p:spPr>
      </p:pic>
      <p:sp>
        <p:nvSpPr>
          <p:cNvPr id="10" name="Corazón 9">
            <a:extLst>
              <a:ext uri="{FF2B5EF4-FFF2-40B4-BE49-F238E27FC236}">
                <a16:creationId xmlns:a16="http://schemas.microsoft.com/office/drawing/2014/main" id="{A76F67E5-472F-9F00-39CE-9E578E151413}"/>
              </a:ext>
            </a:extLst>
          </p:cNvPr>
          <p:cNvSpPr/>
          <p:nvPr/>
        </p:nvSpPr>
        <p:spPr>
          <a:xfrm>
            <a:off x="110804" y="6476056"/>
            <a:ext cx="439837" cy="368841"/>
          </a:xfrm>
          <a:prstGeom prst="hear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accent1">
                    <a:lumMod val="50000"/>
                  </a:schemeClr>
                </a:solidFill>
              </a:rPr>
              <a:t>6</a:t>
            </a:r>
          </a:p>
        </p:txBody>
      </p:sp>
      <p:sp>
        <p:nvSpPr>
          <p:cNvPr id="11" name="CuadroTexto 10">
            <a:extLst>
              <a:ext uri="{FF2B5EF4-FFF2-40B4-BE49-F238E27FC236}">
                <a16:creationId xmlns:a16="http://schemas.microsoft.com/office/drawing/2014/main" id="{4E728E91-7494-EB85-4937-7DBF03A91A49}"/>
              </a:ext>
            </a:extLst>
          </p:cNvPr>
          <p:cNvSpPr txBox="1"/>
          <p:nvPr/>
        </p:nvSpPr>
        <p:spPr>
          <a:xfrm>
            <a:off x="4524840" y="6502089"/>
            <a:ext cx="5871208" cy="307777"/>
          </a:xfrm>
          <a:prstGeom prst="rect">
            <a:avLst/>
          </a:prstGeom>
          <a:noFill/>
        </p:spPr>
        <p:txBody>
          <a:bodyPr wrap="square">
            <a:spAutoFit/>
          </a:bodyPr>
          <a:lstStyle/>
          <a:p>
            <a:r>
              <a:rPr lang="es-PE" sz="1400" b="0" i="0" dirty="0">
                <a:solidFill>
                  <a:schemeClr val="bg1"/>
                </a:solidFill>
                <a:effectLst/>
                <a:latin typeface="Times New Roman" panose="02020603050405020304" pitchFamily="18" charset="0"/>
                <a:cs typeface="Times New Roman" panose="02020603050405020304" pitchFamily="18" charset="0"/>
              </a:rPr>
              <a:t>DOI:</a:t>
            </a:r>
            <a:r>
              <a:rPr lang="es-PE" sz="1400" b="0" i="0" u="sng" dirty="0">
                <a:solidFill>
                  <a:schemeClr val="bg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10.4067/S0719-38902019005000504</a:t>
            </a:r>
            <a:endParaRPr lang="es-ES_tradnl"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67978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1664</TotalTime>
  <Words>464</Words>
  <Application>Microsoft Macintosh PowerPoint</Application>
  <PresentationFormat>Panorámica</PresentationFormat>
  <Paragraphs>58</Paragraphs>
  <Slides>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vt:i4>
      </vt:variant>
    </vt:vector>
  </HeadingPairs>
  <TitlesOfParts>
    <vt:vector size="13" baseType="lpstr">
      <vt:lpstr>Arial</vt:lpstr>
      <vt:lpstr>Calibri</vt:lpstr>
      <vt:lpstr>Calibri Light</vt:lpstr>
      <vt:lpstr>Georgia</vt:lpstr>
      <vt:lpstr>Segoe UI</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FRANCISCO</dc:creator>
  <cp:lastModifiedBy>Microsoft Office User</cp:lastModifiedBy>
  <cp:revision>20</cp:revision>
  <dcterms:created xsi:type="dcterms:W3CDTF">2024-04-15T13:10:46Z</dcterms:created>
  <dcterms:modified xsi:type="dcterms:W3CDTF">2026-05-24T21:21:35Z</dcterms:modified>
</cp:coreProperties>
</file>